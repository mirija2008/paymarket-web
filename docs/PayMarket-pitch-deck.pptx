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12344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F0A1A"/>
          </a:solidFill>
          <a:ln w="15875">
            <a:solidFill>
              <a:srgbClr val="EC4899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75504" y="12344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75504" y="1234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IDEATHON IT 2024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PayMarket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1975104" y="3520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pour marchands informels à Madagascar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75504" y="4343400"/>
            <a:ext cx="1828800" cy="0"/>
          </a:xfrm>
          <a:prstGeom prst="line">
            <a:avLst/>
          </a:prstGeom>
          <a:noFill/>
          <a:ln w="1905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75104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Digitaliser et sécuriser les transactions du commerce informel malgache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60350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PayMarket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 malgache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" y="155448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3836" y="1874520"/>
            <a:ext cx="685800" cy="68580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7" name="Image 0" descr="/home/claude/pm_pptx/icons/users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0391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8116" y="26974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928116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INFORMEL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28116" y="41148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90% des commerçants malgaches opèrent dans le secteur informel.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02836" y="155448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2876" y="1874520"/>
            <a:ext cx="685800" cy="68580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3" name="Image 1" descr="/home/claude/pm_pptx/icons/lock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203911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7156" y="26974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5200" dirty="0"/>
          </a:p>
        </p:txBody>
      </p:sp>
      <p:sp>
        <p:nvSpPr>
          <p:cNvPr id="15" name="Text 11"/>
          <p:cNvSpPr/>
          <p:nvPr/>
        </p:nvSpPr>
        <p:spPr>
          <a:xfrm>
            <a:off x="4677156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CASH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77156" y="41148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80% des transactions se font encore en espèces, créant des risques de sécurité.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51876" y="155448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71916" y="1874520"/>
            <a:ext cx="685800" cy="685800"/>
          </a:xfrm>
          <a:prstGeom prst="ellipse">
            <a:avLst/>
          </a:prstGeom>
          <a:solidFill>
            <a:srgbClr val="6366F1">
              <a:alpha val="15000"/>
            </a:srgbClr>
          </a:solidFill>
          <a:ln w="15875">
            <a:solidFill>
              <a:srgbClr val="6366F1">
                <a:alpha val="70000"/>
              </a:srgbClr>
            </a:solidFill>
            <a:prstDash val="solid"/>
          </a:ln>
        </p:spPr>
      </p:sp>
      <p:pic>
        <p:nvPicPr>
          <p:cNvPr id="19" name="Image 2" descr="/home/claude/pm_pptx/icons/phone_6366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03911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26196" y="26974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5200" dirty="0"/>
          </a:p>
        </p:txBody>
      </p:sp>
      <p:sp>
        <p:nvSpPr>
          <p:cNvPr id="21" name="Text 16"/>
          <p:cNvSpPr/>
          <p:nvPr/>
        </p:nvSpPr>
        <p:spPr>
          <a:xfrm>
            <a:off x="8426196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DISPONIBLE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426196" y="41148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60% de la population possède un téléphone mobile — une opportunité majeure.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 et objectif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6" name="Image 0" descr="/home/claude/pm_pptx/icons/card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8277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733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financière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03911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85% des marchands informels n'ont aucun accès aux services bancaires.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0" name="Image 1" descr="/home/claude/pm_pptx/icons/shield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06214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077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Insécurité des transactions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327355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en espèces exposées aux risques de vol et de fraude.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589520" y="1691640"/>
            <a:ext cx="3931920" cy="4206240"/>
          </a:xfrm>
          <a:prstGeom prst="roundRect">
            <a:avLst>
              <a:gd name="adj" fmla="val 3256"/>
            </a:avLst>
          </a:prstGeom>
          <a:solidFill>
            <a:srgbClr val="241B3D">
              <a:alpha val="95000"/>
            </a:srgbClr>
          </a:solidFill>
          <a:ln w="15875">
            <a:solidFill>
              <a:srgbClr val="FF6EF7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09560" y="2011680"/>
            <a:ext cx="685800" cy="685800"/>
          </a:xfrm>
          <a:prstGeom prst="ellipse">
            <a:avLst/>
          </a:prstGeom>
          <a:solidFill>
            <a:srgbClr val="FF6EF7">
              <a:alpha val="15000"/>
            </a:srgbClr>
          </a:solidFill>
          <a:ln w="15875">
            <a:solidFill>
              <a:srgbClr val="FF6EF7">
                <a:alpha val="70000"/>
              </a:srgbClr>
            </a:solidFill>
            <a:prstDash val="solid"/>
          </a:ln>
        </p:spPr>
      </p:sp>
      <p:pic>
        <p:nvPicPr>
          <p:cNvPr id="15" name="Image 2" descr="/home/claude/pm_pptx/icons/target_ff6e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217627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ambitieux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772400" y="3246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Digitaliser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772400" y="3703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</a:t>
            </a:r>
            <a:endParaRPr lang="en-US" sz="4800" dirty="0"/>
          </a:p>
        </p:txBody>
      </p:sp>
      <p:sp>
        <p:nvSpPr>
          <p:cNvPr id="19" name="Text 14"/>
          <p:cNvSpPr/>
          <p:nvPr/>
        </p:nvSpPr>
        <p:spPr>
          <a:xfrm>
            <a:off x="7863840" y="4526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marchands en 12 mois avec PayMarket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projet maintenant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timing est idéal pour lancer PayMarket à Madagascar grâce à la maturité croissante de l'écosystème digital.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074920" cy="1920240"/>
          </a:xfrm>
          <a:prstGeom prst="roundRect">
            <a:avLst>
              <a:gd name="adj" fmla="val 666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86000"/>
            <a:ext cx="640080" cy="64008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8" name="Image 0" descr="/home/claude/pm_pptx/icons/trend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4396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240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du digital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262432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 25% des utilisateurs internet par an à Madagascar.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1965960"/>
            <a:ext cx="5074920" cy="1920240"/>
          </a:xfrm>
          <a:prstGeom prst="roundRect">
            <a:avLst>
              <a:gd name="adj" fmla="val 666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640080" cy="64008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3" name="Image 1" descr="/home/claude/pm_pptx/icons/phone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4396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240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mobile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69480" y="262432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60% de la population équipée en téléphone mobile.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5074920" cy="1920240"/>
          </a:xfrm>
          <a:prstGeom prst="roundRect">
            <a:avLst>
              <a:gd name="adj" fmla="val 666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526280"/>
            <a:ext cx="640080" cy="640080"/>
          </a:xfrm>
          <a:prstGeom prst="ellipse">
            <a:avLst/>
          </a:prstGeom>
          <a:solidFill>
            <a:srgbClr val="6366F1">
              <a:alpha val="15000"/>
            </a:srgbClr>
          </a:solidFill>
          <a:ln w="15875">
            <a:solidFill>
              <a:srgbClr val="6366F1">
                <a:alpha val="70000"/>
              </a:srgbClr>
            </a:solidFill>
            <a:prstDash val="solid"/>
          </a:ln>
        </p:spPr>
      </p:sp>
      <p:pic>
        <p:nvPicPr>
          <p:cNvPr id="18" name="Image 2" descr="/home/claude/pm_pptx/icons/wifi_6366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67989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4805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mature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37360" y="486460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MVola et Orange Money déjà bien implantés dans le pays.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72200" y="4206240"/>
            <a:ext cx="5074920" cy="1920240"/>
          </a:xfrm>
          <a:prstGeom prst="roundRect">
            <a:avLst>
              <a:gd name="adj" fmla="val 666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52628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5875">
            <a:solidFill>
              <a:srgbClr val="10B981">
                <a:alpha val="70000"/>
              </a:srgbClr>
            </a:solidFill>
            <a:prstDash val="solid"/>
          </a:ln>
        </p:spPr>
      </p:sp>
      <p:pic>
        <p:nvPicPr>
          <p:cNvPr id="23" name="Image 3" descr="/home/claude/pm_pptx/icons/check_10b9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467989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4805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de concept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69480" y="486460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Malgaches utilisent déjà le paiement mobile au quotidien.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cibles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" y="169164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3956" y="2011680"/>
            <a:ext cx="822960" cy="82296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7" name="Image 0" descr="/home/claude/pm_pptx/icons/users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466" y="220919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2396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Marchands informels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28116" y="36576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Commerçants urbains et périurbains (25-45 ans) cherchant à sécuriser leurs revenus quotidiens.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2836" y="169164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2996" y="2011680"/>
            <a:ext cx="822960" cy="82296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2" name="Image 1" descr="/home/claude/pm_pptx/icons/card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506" y="22091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1436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finaux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77156" y="36576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Consommateurs souhaitant payer sans espèces, obtenir des preuves d'achat et bénéficier d'un système de confiance.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1876" y="169164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32036" y="2011680"/>
            <a:ext cx="822960" cy="822960"/>
          </a:xfrm>
          <a:prstGeom prst="ellipse">
            <a:avLst/>
          </a:prstGeom>
          <a:solidFill>
            <a:srgbClr val="6366F1">
              <a:alpha val="15000"/>
            </a:srgbClr>
          </a:solidFill>
          <a:ln w="15875">
            <a:solidFill>
              <a:srgbClr val="6366F1">
                <a:alpha val="70000"/>
              </a:srgbClr>
            </a:solidFill>
            <a:prstDash val="solid"/>
          </a:ln>
        </p:spPr>
      </p:sp>
      <p:pic>
        <p:nvPicPr>
          <p:cNvPr id="17" name="Image 2" descr="/home/claude/pm_pptx/icons/database_6366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546" y="220919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0476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financières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26196" y="36576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 et microfinance intéressées par les données marchandes pour l'inclusion financière.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besoins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12080" cy="1965960"/>
          </a:xfrm>
          <a:prstGeom prst="roundRect">
            <a:avLst>
              <a:gd name="adj" fmla="val 6512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7" name="Image 0" descr="/home/claude/pm_pptx/icons/target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0061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marchands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3774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sans espèces, suivi des ventes en temps réel, accès au micro-crédit, sécurité des revenus.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5212080" cy="1965960"/>
          </a:xfrm>
          <a:prstGeom prst="roundRect">
            <a:avLst>
              <a:gd name="adj" fmla="val 6512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2" name="Image 1" descr="/home/claude/pm_pptx/icons/card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74" y="41550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4023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clients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14400" y="4526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sans liquide, preuve d'achat digitale, confiance via système de notation des marchands.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600200"/>
            <a:ext cx="5212080" cy="4114800"/>
          </a:xfrm>
          <a:prstGeom prst="roundRect">
            <a:avLst>
              <a:gd name="adj" fmla="val 3111"/>
            </a:avLst>
          </a:prstGeom>
          <a:solidFill>
            <a:srgbClr val="241B3D">
              <a:alpha val="95000"/>
            </a:srgbClr>
          </a:solidFill>
          <a:ln w="15875">
            <a:solidFill>
              <a:srgbClr val="FF6EF7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FF6EF7">
              <a:alpha val="15000"/>
            </a:srgbClr>
          </a:solidFill>
          <a:ln w="15875">
            <a:solidFill>
              <a:srgbClr val="FF6EF7">
                <a:alpha val="70000"/>
              </a:srgbClr>
            </a:solidFill>
            <a:prstDash val="solid"/>
          </a:ln>
        </p:spPr>
      </p:sp>
      <p:pic>
        <p:nvPicPr>
          <p:cNvPr id="17" name="Image 2" descr="/home/claude/pm_pptx/icons/chart_ff6e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4" y="20061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terrain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83680" y="246888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Enquêtes auprès de 50 marchands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de 20 clients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dans les marchés locaux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 et entretiens qualitatifs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directe sur le terrain à Madagascar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PayMarket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2396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4899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985516" y="1965960"/>
            <a:ext cx="685800" cy="68580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8" name="Image 0" descr="/home/claude/pm_pptx/icons/phone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108" y="213055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8116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légère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28116" y="33832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Android optimisée + accès USSD pour les téléphones basiques.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0283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31436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5CF6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Shape 10"/>
          <p:cNvSpPr/>
          <p:nvPr/>
        </p:nvSpPr>
        <p:spPr>
          <a:xfrm>
            <a:off x="6734556" y="1965960"/>
            <a:ext cx="685800" cy="68580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4" name="Image 1" descr="/home/claude/pm_pptx/icons/zap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48" y="213055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7156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facile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77156" y="33832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Encaissez vos paiements et gérez vos transactions quotidiennes en toute simplicité.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5187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380476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EF7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Shape 15"/>
          <p:cNvSpPr/>
          <p:nvPr/>
        </p:nvSpPr>
        <p:spPr>
          <a:xfrm>
            <a:off x="10483596" y="1965960"/>
            <a:ext cx="685800" cy="685800"/>
          </a:xfrm>
          <a:prstGeom prst="ellipse">
            <a:avLst/>
          </a:prstGeom>
          <a:solidFill>
            <a:srgbClr val="FF6EF7">
              <a:alpha val="15000"/>
            </a:srgbClr>
          </a:solidFill>
          <a:ln w="15875">
            <a:solidFill>
              <a:srgbClr val="FF6EF7">
                <a:alpha val="70000"/>
              </a:srgbClr>
            </a:solidFill>
            <a:prstDash val="solid"/>
          </a:ln>
        </p:spPr>
      </p:sp>
      <p:pic>
        <p:nvPicPr>
          <p:cNvPr id="20" name="Image 2" descr="/home/claude/pm_pptx/icons/clock_ff6e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188" y="213055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26196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totale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26196" y="33832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et traçabilité de toutes vos opérations commerciales.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marchand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1417320"/>
          </a:xfrm>
          <a:prstGeom prst="roundRect">
            <a:avLst>
              <a:gd name="adj" fmla="val 9032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7" name="Image 0" descr="/home/claude/pm_pptx/icons/card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1982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514600" y="1856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QR Code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14600" y="2258568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Acceptez les paiements par scan QR code ou numéro de téléphone. Notifications instantanées à chaque transaction.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10908792" cy="1417320"/>
          </a:xfrm>
          <a:prstGeom prst="roundRect">
            <a:avLst>
              <a:gd name="adj" fmla="val 9032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611880"/>
            <a:ext cx="777240" cy="77724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3" name="Image 1" descr="/home/claude/pm_pptx/icons/chart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8" y="379841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514600" y="3456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514600" y="3858768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vos ventes en temps réel avec un tableau de bord intuitif. Visualisez vos revenus quotidiens et tendances.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892040"/>
            <a:ext cx="10908792" cy="1417320"/>
          </a:xfrm>
          <a:prstGeom prst="roundRect">
            <a:avLst>
              <a:gd name="adj" fmla="val 9032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5212080"/>
            <a:ext cx="777240" cy="777240"/>
          </a:xfrm>
          <a:prstGeom prst="ellipse">
            <a:avLst/>
          </a:prstGeom>
          <a:solidFill>
            <a:srgbClr val="6366F1">
              <a:alpha val="15000"/>
            </a:srgbClr>
          </a:solidFill>
          <a:ln w="15875">
            <a:solidFill>
              <a:srgbClr val="6366F1">
                <a:alpha val="70000"/>
              </a:srgbClr>
            </a:solidFill>
            <a:prstDash val="solid"/>
          </a:ln>
        </p:spPr>
      </p:sp>
      <p:pic>
        <p:nvPicPr>
          <p:cNvPr id="19" name="Image 2" descr="/home/claude/pm_pptx/icons/clock_6366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5398618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5029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2514600" y="5056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514600" y="5458968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Reçus digitaux automatiques pour chaque vente. Exportez votre historique complet pour vos démarches de crédit.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client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37076" y="3566160"/>
            <a:ext cx="365760" cy="0"/>
          </a:xfrm>
          <a:prstGeom prst="line">
            <a:avLst/>
          </a:prstGeom>
          <a:noFill/>
          <a:ln w="25400">
            <a:solidFill>
              <a:srgbClr val="4C1D9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786116" y="3566160"/>
            <a:ext cx="365760" cy="0"/>
          </a:xfrm>
          <a:prstGeom prst="line">
            <a:avLst/>
          </a:prstGeom>
          <a:noFill/>
          <a:ln w="25400">
            <a:solidFill>
              <a:srgbClr val="4C1D9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5379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33956" y="2011680"/>
            <a:ext cx="822960" cy="82296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9" name="Image 0" descr="/home/claude/pm_pptx/icons/send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466" y="2209190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796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2396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QR Code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28116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le QR code du marchand ou saisissez son numéro pour payer instantanément.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0283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82996" y="2011680"/>
            <a:ext cx="822960" cy="82296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5" name="Image 1" descr="/home/claude/pm_pptx/icons/check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506" y="2209190"/>
            <a:ext cx="427939" cy="42793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02836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31436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digital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77156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Recevez automatiquement une preuve d'achat numérique après chaque transaction.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5187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432036" y="2011680"/>
            <a:ext cx="822960" cy="822960"/>
          </a:xfrm>
          <a:prstGeom prst="ellipse">
            <a:avLst/>
          </a:prstGeom>
          <a:solidFill>
            <a:srgbClr val="FF6EF7">
              <a:alpha val="15000"/>
            </a:srgbClr>
          </a:solidFill>
          <a:ln w="15875">
            <a:solidFill>
              <a:srgbClr val="FF6EF7">
                <a:alpha val="70000"/>
              </a:srgbClr>
            </a:solidFill>
            <a:prstDash val="solid"/>
          </a:ln>
        </p:spPr>
      </p:sp>
      <p:pic>
        <p:nvPicPr>
          <p:cNvPr id="21" name="Image 2" descr="/home/claude/pm_pptx/icons/star_ff6e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546" y="2209190"/>
            <a:ext cx="427939" cy="42793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51876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380476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marchands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26196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Évaluez les marchands et consultez leur réputation pour des achats en confiance.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Tarification et offres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pack adapté à vos besoins et faites évoluer votre activité avec PayMarket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3796" y="178308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" y="25603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3796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19556" y="3840480"/>
            <a:ext cx="2651760" cy="0"/>
          </a:xfrm>
          <a:prstGeom prst="line">
            <a:avLst/>
          </a:prstGeom>
          <a:noFill/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" y="402336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de base, reçus digitaux automatiques, idéal pour démarrer.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2836" y="1600200"/>
            <a:ext cx="3383280" cy="4297680"/>
          </a:xfrm>
          <a:prstGeom prst="roundRect">
            <a:avLst>
              <a:gd name="adj" fmla="val 3784"/>
            </a:avLst>
          </a:prstGeom>
          <a:solidFill>
            <a:srgbClr val="241B3D">
              <a:alpha val="97000"/>
            </a:srgbClr>
          </a:solidFill>
          <a:ln w="19050">
            <a:solidFill>
              <a:srgbClr val="EC4899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25796" y="141732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F0A1A"/>
          </a:solidFill>
          <a:ln w="15875">
            <a:solidFill>
              <a:srgbClr val="EC4899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25796" y="141732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225796" y="1417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POPULAIRE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02836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02836" y="23774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402836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Ar/mois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68596" y="3657600"/>
            <a:ext cx="2651760" cy="0"/>
          </a:xfrm>
          <a:prstGeom prst="line">
            <a:avLst/>
          </a:prstGeom>
          <a:noFill/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7156" y="384048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ventes, historique complet exportable.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51876" y="178308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51876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51876" y="25603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8151876" y="3383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Ar/mois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17636" y="3840480"/>
            <a:ext cx="2651760" cy="0"/>
          </a:xfrm>
          <a:prstGeom prst="line">
            <a:avLst/>
          </a:prstGeom>
          <a:noFill/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26196" y="402336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avancés, accès micro-crédit, support prioritaire.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08076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packs incluent : notifications instantanées · paiement QR code · sécurité garantie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communication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241B3D">
              <a:alpha val="95000"/>
            </a:srgbClr>
          </a:solidFill>
          <a:ln w="12700">
            <a:solidFill>
              <a:srgbClr val="FF6EF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Encaissez en toute sécurité, suivez vos ventes, accédez au crédit — depuis votre téléphone 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38528" y="3246120"/>
            <a:ext cx="8311896" cy="0"/>
          </a:xfrm>
          <a:prstGeom prst="line">
            <a:avLst/>
          </a:prstGeom>
          <a:noFill/>
          <a:ln w="25400">
            <a:solidFill>
              <a:srgbClr val="4C1D9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5608" y="2743200"/>
            <a:ext cx="1005840" cy="1005840"/>
          </a:xfrm>
          <a:prstGeom prst="ellipse">
            <a:avLst/>
          </a:prstGeom>
          <a:solidFill>
            <a:srgbClr val="EC4899">
              <a:alpha val="18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608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81228" y="411480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" y="4279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1228" y="4572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6240" y="2743200"/>
            <a:ext cx="1005840" cy="1005840"/>
          </a:xfrm>
          <a:prstGeom prst="ellipse">
            <a:avLst/>
          </a:prstGeom>
          <a:solidFill>
            <a:srgbClr val="8B5CF6">
              <a:alpha val="18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451860" y="411480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51860" y="4279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51860" y="4572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76872" y="2743200"/>
            <a:ext cx="1005840" cy="1005840"/>
          </a:xfrm>
          <a:prstGeom prst="ellipse">
            <a:avLst/>
          </a:prstGeom>
          <a:solidFill>
            <a:srgbClr val="6366F1">
              <a:alpha val="18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222492" y="411480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22492" y="4279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22492" y="4572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47504" y="2743200"/>
            <a:ext cx="1005840" cy="1005840"/>
          </a:xfrm>
          <a:prstGeom prst="ellipse">
            <a:avLst/>
          </a:prstGeom>
          <a:solidFill>
            <a:srgbClr val="FF6EF7">
              <a:alpha val="18000"/>
            </a:srgbClr>
          </a:solidFill>
          <a:ln w="19050">
            <a:solidFill>
              <a:srgbClr val="FF6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47504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8993124" y="4114800"/>
            <a:ext cx="2514600" cy="1737360"/>
          </a:xfrm>
          <a:prstGeom prst="roundRect">
            <a:avLst>
              <a:gd name="adj" fmla="val 7368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993124" y="42793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993124" y="4572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L'équipe projet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2396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985516" y="1965960"/>
            <a:ext cx="685800" cy="68580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8" name="Image 0" descr="/home/claude/pm_pptx/icons/code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108" y="213055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8116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28116" y="33832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développeurs full-stack React Native et Node.js pour l'application mobile et backend.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0283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31436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Shape 10"/>
          <p:cNvSpPr/>
          <p:nvPr/>
        </p:nvSpPr>
        <p:spPr>
          <a:xfrm>
            <a:off x="6734556" y="1965960"/>
            <a:ext cx="685800" cy="68580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4" name="Image 1" descr="/home/claude/pm_pptx/icons/star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48" y="213055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7156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gestion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77156" y="33832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UI/UX designer + 1 chef de projet pour coordonner le développement et l'expérience utilisateur.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51876" y="173736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380476" y="18745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Shape 15"/>
          <p:cNvSpPr/>
          <p:nvPr/>
        </p:nvSpPr>
        <p:spPr>
          <a:xfrm>
            <a:off x="10483596" y="1965960"/>
            <a:ext cx="685800" cy="685800"/>
          </a:xfrm>
          <a:prstGeom prst="ellipse">
            <a:avLst/>
          </a:prstGeom>
          <a:solidFill>
            <a:srgbClr val="FF6EF7">
              <a:alpha val="15000"/>
            </a:srgbClr>
          </a:solidFill>
          <a:ln w="15875">
            <a:solidFill>
              <a:srgbClr val="FF6EF7">
                <a:alpha val="70000"/>
              </a:srgbClr>
            </a:solidFill>
            <a:prstDash val="solid"/>
          </a:ln>
        </p:spPr>
      </p:sp>
      <p:pic>
        <p:nvPicPr>
          <p:cNvPr id="20" name="Image 2" descr="/home/claude/pm_pptx/icons/users_ff6e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188" y="213055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26196" y="28803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426196" y="33832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commercial terrain pour le déploiement et l'acquisition des marchands à Madagascar.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matérielles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4924" y="1737360"/>
            <a:ext cx="2587752" cy="4023360"/>
          </a:xfrm>
          <a:prstGeom prst="roundRect">
            <a:avLst>
              <a:gd name="adj" fmla="val 494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011680"/>
            <a:ext cx="731520" cy="73152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7" name="Image 0" descr="/home/claude/pm_pptx/icons/server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605" y="21872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" y="292608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7804" y="3337560"/>
            <a:ext cx="22219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postes de travail pour l'équipe de développement et opérations.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54964" y="4709160"/>
            <a:ext cx="1947672" cy="0"/>
          </a:xfrm>
          <a:prstGeom prst="line">
            <a:avLst/>
          </a:prstGeom>
          <a:noFill/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" y="48463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M 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78708" y="1737360"/>
            <a:ext cx="2587752" cy="4023360"/>
          </a:xfrm>
          <a:prstGeom prst="roundRect">
            <a:avLst>
              <a:gd name="adj" fmla="val 494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06824" y="2011680"/>
            <a:ext cx="731520" cy="73152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4" name="Image 1" descr="/home/claude/pm_pptx/icons/code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89" y="218724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15868" y="292608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61588" y="3337560"/>
            <a:ext cx="22219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et outils de développement essentiels.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98748" y="4709160"/>
            <a:ext cx="1947672" cy="0"/>
          </a:xfrm>
          <a:prstGeom prst="line">
            <a:avLst/>
          </a:prstGeom>
          <a:noFill/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15868" y="48463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100-400 K Ar/mois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22492" y="1737360"/>
            <a:ext cx="2587752" cy="4023360"/>
          </a:xfrm>
          <a:prstGeom prst="roundRect">
            <a:avLst>
              <a:gd name="adj" fmla="val 494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50608" y="2011680"/>
            <a:ext cx="731520" cy="731520"/>
          </a:xfrm>
          <a:prstGeom prst="ellipse">
            <a:avLst/>
          </a:prstGeom>
          <a:solidFill>
            <a:srgbClr val="6366F1">
              <a:alpha val="15000"/>
            </a:srgbClr>
          </a:solidFill>
          <a:ln w="15875">
            <a:solidFill>
              <a:srgbClr val="6366F1">
                <a:alpha val="70000"/>
              </a:srgbClr>
            </a:solidFill>
            <a:prstDash val="solid"/>
          </a:ln>
        </p:spPr>
      </p:sp>
      <p:pic>
        <p:nvPicPr>
          <p:cNvPr id="21" name="Image 2" descr="/home/claude/pm_pptx/icons/database_6366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3" y="218724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9652" y="292608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05372" y="3337560"/>
            <a:ext cx="22219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cloud AWS ou OVH sécurisée.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542532" y="4709160"/>
            <a:ext cx="1947672" cy="0"/>
          </a:xfrm>
          <a:prstGeom prst="line">
            <a:avLst/>
          </a:prstGeom>
          <a:noFill/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59652" y="48463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200-500 K Ar/mois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9066276" y="1737360"/>
            <a:ext cx="2587752" cy="4023360"/>
          </a:xfrm>
          <a:prstGeom prst="roundRect">
            <a:avLst>
              <a:gd name="adj" fmla="val 494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994392" y="2011680"/>
            <a:ext cx="731520" cy="731520"/>
          </a:xfrm>
          <a:prstGeom prst="ellipse">
            <a:avLst/>
          </a:prstGeom>
          <a:solidFill>
            <a:srgbClr val="FF6EF7">
              <a:alpha val="15000"/>
            </a:srgbClr>
          </a:solidFill>
          <a:ln w="15875">
            <a:solidFill>
              <a:srgbClr val="FF6EF7">
                <a:alpha val="70000"/>
              </a:srgbClr>
            </a:solidFill>
            <a:prstDash val="solid"/>
          </a:ln>
        </p:spPr>
      </p:sp>
      <p:pic>
        <p:nvPicPr>
          <p:cNvPr id="28" name="Image 3" descr="/home/claude/pm_pptx/icons/wifi_ff6ef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957" y="2187245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3436" y="2926080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9249156" y="3337560"/>
            <a:ext cx="22219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haut débit fiable pour les opérations.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386316" y="4709160"/>
            <a:ext cx="1947672" cy="0"/>
          </a:xfrm>
          <a:prstGeom prst="line">
            <a:avLst/>
          </a:prstGeom>
          <a:noFill/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203436" y="484632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150-300 K Ar/mois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techniques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74920" cy="1920240"/>
          </a:xfrm>
          <a:prstGeom prst="roundRect">
            <a:avLst>
              <a:gd name="adj" fmla="val 666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7" name="Image 0" descr="/home/claude/pm_pptx/icons/phone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3024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031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mobile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37360" y="248716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pour le développement cross-platform iOS/Android.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074920" cy="1920240"/>
          </a:xfrm>
          <a:prstGeom prst="roundRect">
            <a:avLst>
              <a:gd name="adj" fmla="val 666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148840"/>
            <a:ext cx="640080" cy="64008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2" name="Image 1" descr="/home/claude/pm_pptx/icons/send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23024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1031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API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269480" y="248716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aux API MVola et Orange Money pour les transactions mobile money.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074920" cy="1920240"/>
          </a:xfrm>
          <a:prstGeom prst="roundRect">
            <a:avLst>
              <a:gd name="adj" fmla="val 666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6366F1">
              <a:alpha val="15000"/>
            </a:srgbClr>
          </a:solidFill>
          <a:ln w="15875">
            <a:solidFill>
              <a:srgbClr val="6366F1">
                <a:alpha val="70000"/>
              </a:srgbClr>
            </a:solidFill>
            <a:prstDash val="solid"/>
          </a:ln>
        </p:spPr>
      </p:sp>
      <p:pic>
        <p:nvPicPr>
          <p:cNvPr id="17" name="Image 2" descr="/home/claude/pm_pptx/icons/server_6366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5427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3434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37360" y="472744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PostgreSQL sur AWS ou OVH Cloud.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4069080"/>
            <a:ext cx="5074920" cy="1920240"/>
          </a:xfrm>
          <a:prstGeom prst="roundRect">
            <a:avLst>
              <a:gd name="adj" fmla="val 6667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389120"/>
            <a:ext cx="640080" cy="640080"/>
          </a:xfrm>
          <a:prstGeom prst="ellipse">
            <a:avLst/>
          </a:prstGeom>
          <a:solidFill>
            <a:srgbClr val="FF6EF7">
              <a:alpha val="15000"/>
            </a:srgbClr>
          </a:solidFill>
          <a:ln w="15875">
            <a:solidFill>
              <a:srgbClr val="FF6EF7">
                <a:alpha val="70000"/>
              </a:srgbClr>
            </a:solidFill>
            <a:prstDash val="solid"/>
          </a:ln>
        </p:spPr>
      </p:sp>
      <p:pic>
        <p:nvPicPr>
          <p:cNvPr id="22" name="Image 3" descr="/home/claude/pm_pptx/icons/shield_ff6ef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454273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3434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269480" y="4727448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SSL et authentification 2FA pour protéger les données.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&amp;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du projet PayMarket sur 12 mois : du développement au déploiement à grande échelle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38528" y="3090672"/>
            <a:ext cx="8311896" cy="0"/>
          </a:xfrm>
          <a:prstGeom prst="line">
            <a:avLst/>
          </a:prstGeom>
          <a:noFill/>
          <a:ln w="25400">
            <a:solidFill>
              <a:srgbClr val="4C1D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2834640"/>
            <a:ext cx="512064" cy="51206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" name="Shape 6"/>
          <p:cNvSpPr/>
          <p:nvPr/>
        </p:nvSpPr>
        <p:spPr>
          <a:xfrm>
            <a:off x="681228" y="3749040"/>
            <a:ext cx="2514600" cy="2011680"/>
          </a:xfrm>
          <a:prstGeom prst="roundRect">
            <a:avLst>
              <a:gd name="adj" fmla="val 636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1-3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1228" y="4297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" y="5212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1/4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53128" y="2834640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1860" y="3749040"/>
            <a:ext cx="2514600" cy="2011680"/>
          </a:xfrm>
          <a:prstGeom prst="roundRect">
            <a:avLst>
              <a:gd name="adj" fmla="val 636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51860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4-6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51860" y="4297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terrain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51860" y="5212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2/4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2834640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222492" y="3749040"/>
            <a:ext cx="2514600" cy="2011680"/>
          </a:xfrm>
          <a:prstGeom prst="roundRect">
            <a:avLst>
              <a:gd name="adj" fmla="val 636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22492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7-9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22492" y="4297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22492" y="5212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3/4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94392" y="2834640"/>
            <a:ext cx="512064" cy="512064"/>
          </a:xfrm>
          <a:prstGeom prst="ellipse">
            <a:avLst/>
          </a:prstGeom>
          <a:solidFill>
            <a:srgbClr val="FF6E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993124" y="3749040"/>
            <a:ext cx="2514600" cy="2011680"/>
          </a:xfrm>
          <a:prstGeom prst="roundRect">
            <a:avLst>
              <a:gd name="adj" fmla="val 6364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93124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10-12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93124" y="42976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93124" y="5212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4/4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Bénéfices pour chaque acteur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8792" cy="1417320"/>
          </a:xfrm>
          <a:prstGeom prst="roundRect">
            <a:avLst>
              <a:gd name="adj" fmla="val 9032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7" name="Image 0" descr="/home/claude/pm_pptx/icons/users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1982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514600" y="18562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14600" y="2258568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revenus, digitalisation des transactions, accès facilité au micro-crédit.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10908792" cy="1417320"/>
          </a:xfrm>
          <a:prstGeom prst="roundRect">
            <a:avLst>
              <a:gd name="adj" fmla="val 9032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611880"/>
            <a:ext cx="777240" cy="777240"/>
          </a:xfrm>
          <a:prstGeom prst="ellipse">
            <a:avLst/>
          </a:prstGeom>
          <a:solidFill>
            <a:srgbClr val="8B5CF6">
              <a:alpha val="1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13" name="Image 1" descr="/home/claude/pm_pptx/icons/card_8b5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8" y="379841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514600" y="3456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514600" y="3858768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simple et rapide, preuve d'achat digitale, confiance via système de notation.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892040"/>
            <a:ext cx="10908792" cy="1417320"/>
          </a:xfrm>
          <a:prstGeom prst="roundRect">
            <a:avLst>
              <a:gd name="adj" fmla="val 9032"/>
            </a:avLst>
          </a:prstGeom>
          <a:solidFill>
            <a:srgbClr val="1A142E">
              <a:alpha val="85000"/>
            </a:srgbClr>
          </a:solidFill>
          <a:ln w="12700">
            <a:solidFill>
              <a:srgbClr val="4C1D95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5212080"/>
            <a:ext cx="777240" cy="777240"/>
          </a:xfrm>
          <a:prstGeom prst="ellipse">
            <a:avLst/>
          </a:prstGeom>
          <a:solidFill>
            <a:srgbClr val="FF6EF7">
              <a:alpha val="15000"/>
            </a:srgbClr>
          </a:solidFill>
          <a:ln w="15875">
            <a:solidFill>
              <a:srgbClr val="FF6EF7">
                <a:alpha val="70000"/>
              </a:srgbClr>
            </a:solidFill>
            <a:prstDash val="solid"/>
          </a:ln>
        </p:spPr>
      </p:sp>
      <p:pic>
        <p:nvPicPr>
          <p:cNvPr id="19" name="Image 2" descr="/home/claude/pm_pptx/icons/database_ff6ef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5398618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5029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2514600" y="5056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514600" y="5458968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fiables sur les marchands, inclusion financière accrue, opportunités de partenariat.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13716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F0A1A"/>
          </a:solidFill>
          <a:ln w="15875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75504" y="13716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175504" y="1371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Rejoignez l'aventure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PAYMARKET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175504" y="3977640"/>
            <a:ext cx="1828800" cy="0"/>
          </a:xfrm>
          <a:prstGeom prst="line">
            <a:avLst/>
          </a:prstGeom>
          <a:noFill/>
          <a:ln w="1905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2432" y="4251960"/>
            <a:ext cx="713232" cy="713232"/>
          </a:xfrm>
          <a:prstGeom prst="ellipse">
            <a:avLst/>
          </a:prstGeom>
          <a:solidFill>
            <a:srgbClr val="EC4899">
              <a:alpha val="15000"/>
            </a:srgbClr>
          </a:solidFill>
          <a:ln w="15875">
            <a:solidFill>
              <a:srgbClr val="EC4899">
                <a:alpha val="70000"/>
              </a:srgbClr>
            </a:solidFill>
            <a:prstDash val="solid"/>
          </a:ln>
        </p:spPr>
      </p:sp>
      <p:pic>
        <p:nvPicPr>
          <p:cNvPr id="11" name="Image 0" descr="/home/claude/pm_pptx/icons/send_ec48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3608" y="4423136"/>
            <a:ext cx="370881" cy="37088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PayMarket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5486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contact@paymarket.mg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2194560"/>
            <a:ext cx="5943600" cy="5943600"/>
          </a:xfrm>
          <a:prstGeom prst="ellipse">
            <a:avLst/>
          </a:prstGeom>
          <a:solidFill>
            <a:srgbClr val="EC48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6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ÉCHANGES BIENVENUS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75504" y="4206240"/>
            <a:ext cx="1828800" cy="0"/>
          </a:xfrm>
          <a:prstGeom prst="line">
            <a:avLst/>
          </a:prstGeom>
          <a:noFill/>
          <a:ln w="1905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PayMarket · Équipe PayMarket · contact@paymarket.mg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2026-08-03T18:42:41Z</dcterms:created>
  <dcterms:modified xsi:type="dcterms:W3CDTF">2026-08-03T18:42:41Z</dcterms:modified>
</cp:coreProperties>
</file>